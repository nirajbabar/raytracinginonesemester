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Arial" charset="1" panose="020B0604020202020204"/>
      <p:regular r:id="rId10"/>
    </p:embeddedFont>
    <p:embeddedFont>
      <p:font typeface="Arial Bold" charset="1" panose="020B0704020202020204"/>
      <p:regular r:id="rId11"/>
    </p:embeddedFont>
    <p:embeddedFont>
      <p:font typeface="Arimo" charset="1" panose="020B060402020202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https://dl.acm.org/doi/10.1145/280814.280949" TargetMode="External" Type="http://schemas.openxmlformats.org/officeDocument/2006/relationships/hyperlink"/><Relationship Id="rId6" Target="https://dl.acm.org/doi/10.1145/280814.280949"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28982" y="-335415"/>
            <a:ext cx="21169009" cy="4708298"/>
            <a:chOff x="0" y="0"/>
            <a:chExt cx="5575377" cy="1240045"/>
          </a:xfrm>
        </p:grpSpPr>
        <p:sp>
          <p:nvSpPr>
            <p:cNvPr name="Freeform 3" id="3"/>
            <p:cNvSpPr/>
            <p:nvPr/>
          </p:nvSpPr>
          <p:spPr>
            <a:xfrm flipH="false" flipV="false" rot="0">
              <a:off x="0" y="0"/>
              <a:ext cx="5575377" cy="1240045"/>
            </a:xfrm>
            <a:custGeom>
              <a:avLst/>
              <a:gdLst/>
              <a:ahLst/>
              <a:cxnLst/>
              <a:rect r="r" b="b" t="t" l="l"/>
              <a:pathLst>
                <a:path h="1240045" w="5575377">
                  <a:moveTo>
                    <a:pt x="0" y="0"/>
                  </a:moveTo>
                  <a:lnTo>
                    <a:pt x="5575377" y="0"/>
                  </a:lnTo>
                  <a:lnTo>
                    <a:pt x="5575377" y="1240045"/>
                  </a:lnTo>
                  <a:lnTo>
                    <a:pt x="0" y="1240045"/>
                  </a:lnTo>
                  <a:close/>
                </a:path>
              </a:pathLst>
            </a:custGeom>
            <a:solidFill>
              <a:srgbClr val="8D1D40"/>
            </a:solidFill>
            <a:ln w="38100" cap="sq">
              <a:solidFill>
                <a:srgbClr val="000000"/>
              </a:solidFill>
              <a:prstDash val="solid"/>
              <a:miter/>
            </a:ln>
          </p:spPr>
        </p:sp>
        <p:sp>
          <p:nvSpPr>
            <p:cNvPr name="TextBox 4" id="4"/>
            <p:cNvSpPr txBox="true"/>
            <p:nvPr/>
          </p:nvSpPr>
          <p:spPr>
            <a:xfrm>
              <a:off x="0" y="-57150"/>
              <a:ext cx="5575377" cy="129719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746732" y="1413467"/>
            <a:ext cx="16794536" cy="681789"/>
          </a:xfrm>
          <a:prstGeom prst="rect">
            <a:avLst/>
          </a:prstGeom>
        </p:spPr>
        <p:txBody>
          <a:bodyPr anchor="t" rtlCol="false" tIns="0" lIns="0" bIns="0" rIns="0">
            <a:spAutoFit/>
          </a:bodyPr>
          <a:lstStyle/>
          <a:p>
            <a:pPr algn="ctr">
              <a:lnSpc>
                <a:spcPts val="4841"/>
              </a:lnSpc>
            </a:pPr>
            <a:r>
              <a:rPr lang="en-US" sz="5320">
                <a:solidFill>
                  <a:srgbClr val="FFFFFF"/>
                </a:solidFill>
                <a:latin typeface="Arial"/>
                <a:ea typeface="Arial"/>
                <a:cs typeface="Arial"/>
                <a:sym typeface="Arial"/>
              </a:rPr>
              <a:t>Assignment 0</a:t>
            </a:r>
          </a:p>
        </p:txBody>
      </p:sp>
      <p:grpSp>
        <p:nvGrpSpPr>
          <p:cNvPr name="Group 6" id="6"/>
          <p:cNvGrpSpPr/>
          <p:nvPr/>
        </p:nvGrpSpPr>
        <p:grpSpPr>
          <a:xfrm rot="0">
            <a:off x="14877475" y="4700878"/>
            <a:ext cx="4071202" cy="885244"/>
            <a:chOff x="0" y="0"/>
            <a:chExt cx="5428269" cy="1180325"/>
          </a:xfrm>
        </p:grpSpPr>
        <p:sp>
          <p:nvSpPr>
            <p:cNvPr name="TextBox 7" id="7"/>
            <p:cNvSpPr txBox="true"/>
            <p:nvPr/>
          </p:nvSpPr>
          <p:spPr>
            <a:xfrm rot="0">
              <a:off x="0" y="-76200"/>
              <a:ext cx="4804047" cy="695303"/>
            </a:xfrm>
            <a:prstGeom prst="rect">
              <a:avLst/>
            </a:prstGeom>
          </p:spPr>
          <p:txBody>
            <a:bodyPr anchor="t" rtlCol="false" tIns="0" lIns="0" bIns="0" rIns="0">
              <a:spAutoFit/>
            </a:bodyPr>
            <a:lstStyle/>
            <a:p>
              <a:pPr algn="l">
                <a:lnSpc>
                  <a:spcPts val="4333"/>
                </a:lnSpc>
              </a:pPr>
              <a:r>
                <a:rPr lang="en-US" sz="3095" b="true">
                  <a:solidFill>
                    <a:srgbClr val="000000"/>
                  </a:solidFill>
                  <a:latin typeface="Arial Bold"/>
                  <a:ea typeface="Arial Bold"/>
                  <a:cs typeface="Arial Bold"/>
                  <a:sym typeface="Arial Bold"/>
                </a:rPr>
                <a:t>   </a:t>
              </a:r>
              <a:r>
                <a:rPr lang="en-US" sz="3095" b="true">
                  <a:solidFill>
                    <a:srgbClr val="000000"/>
                  </a:solidFill>
                  <a:latin typeface="Arial Bold"/>
                  <a:ea typeface="Arial Bold"/>
                  <a:cs typeface="Arial Bold"/>
                  <a:sym typeface="Arial Bold"/>
                </a:rPr>
                <a:t>Vikrant Deo</a:t>
              </a:r>
            </a:p>
          </p:txBody>
        </p:sp>
        <p:sp>
          <p:nvSpPr>
            <p:cNvPr name="TextBox 8" id="8"/>
            <p:cNvSpPr txBox="true"/>
            <p:nvPr/>
          </p:nvSpPr>
          <p:spPr>
            <a:xfrm rot="0">
              <a:off x="0" y="549309"/>
              <a:ext cx="5428269" cy="631015"/>
            </a:xfrm>
            <a:prstGeom prst="rect">
              <a:avLst/>
            </a:prstGeom>
          </p:spPr>
          <p:txBody>
            <a:bodyPr anchor="t" rtlCol="false" tIns="0" lIns="0" bIns="0" rIns="0">
              <a:spAutoFit/>
            </a:bodyPr>
            <a:lstStyle/>
            <a:p>
              <a:pPr algn="l">
                <a:lnSpc>
                  <a:spcPts val="3972"/>
                </a:lnSpc>
              </a:pPr>
            </a:p>
          </p:txBody>
        </p:sp>
      </p:grpSp>
      <p:sp>
        <p:nvSpPr>
          <p:cNvPr name="TextBox 9" id="9"/>
          <p:cNvSpPr txBox="true"/>
          <p:nvPr/>
        </p:nvSpPr>
        <p:spPr>
          <a:xfrm rot="0">
            <a:off x="636940" y="2995245"/>
            <a:ext cx="16794536" cy="681789"/>
          </a:xfrm>
          <a:prstGeom prst="rect">
            <a:avLst/>
          </a:prstGeom>
        </p:spPr>
        <p:txBody>
          <a:bodyPr anchor="t" rtlCol="false" tIns="0" lIns="0" bIns="0" rIns="0">
            <a:spAutoFit/>
          </a:bodyPr>
          <a:lstStyle/>
          <a:p>
            <a:pPr algn="ctr">
              <a:lnSpc>
                <a:spcPts val="4841"/>
              </a:lnSpc>
            </a:pPr>
            <a:r>
              <a:rPr lang="en-US" sz="5320">
                <a:solidFill>
                  <a:srgbClr val="FFFFFF"/>
                </a:solidFill>
                <a:latin typeface="Arial"/>
                <a:ea typeface="Arial"/>
                <a:cs typeface="Arial"/>
                <a:sym typeface="Arial"/>
              </a:rPr>
              <a:t>Ray Tracing in One Semester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28964" y="1256840"/>
            <a:ext cx="5677662" cy="4427673"/>
          </a:xfrm>
          <a:custGeom>
            <a:avLst/>
            <a:gdLst/>
            <a:ahLst/>
            <a:cxnLst/>
            <a:rect r="r" b="b" t="t" l="l"/>
            <a:pathLst>
              <a:path h="4427673" w="5677662">
                <a:moveTo>
                  <a:pt x="0" y="0"/>
                </a:moveTo>
                <a:lnTo>
                  <a:pt x="5677662" y="0"/>
                </a:lnTo>
                <a:lnTo>
                  <a:pt x="5677662" y="4427673"/>
                </a:lnTo>
                <a:lnTo>
                  <a:pt x="0" y="4427673"/>
                </a:lnTo>
                <a:lnTo>
                  <a:pt x="0" y="0"/>
                </a:lnTo>
                <a:close/>
              </a:path>
            </a:pathLst>
          </a:custGeom>
          <a:blipFill>
            <a:blip r:embed="rId2"/>
            <a:stretch>
              <a:fillRect l="0" t="0" r="0" b="0"/>
            </a:stretch>
          </a:blipFill>
        </p:spPr>
      </p:sp>
      <p:sp>
        <p:nvSpPr>
          <p:cNvPr name="Freeform 3" id="3"/>
          <p:cNvSpPr/>
          <p:nvPr/>
        </p:nvSpPr>
        <p:spPr>
          <a:xfrm flipH="false" flipV="false" rot="0">
            <a:off x="12226047" y="5774275"/>
            <a:ext cx="5780580" cy="4421322"/>
          </a:xfrm>
          <a:custGeom>
            <a:avLst/>
            <a:gdLst/>
            <a:ahLst/>
            <a:cxnLst/>
            <a:rect r="r" b="b" t="t" l="l"/>
            <a:pathLst>
              <a:path h="4421322" w="5780580">
                <a:moveTo>
                  <a:pt x="0" y="0"/>
                </a:moveTo>
                <a:lnTo>
                  <a:pt x="5780579" y="0"/>
                </a:lnTo>
                <a:lnTo>
                  <a:pt x="5780579" y="4421322"/>
                </a:lnTo>
                <a:lnTo>
                  <a:pt x="0" y="4421322"/>
                </a:lnTo>
                <a:lnTo>
                  <a:pt x="0" y="0"/>
                </a:lnTo>
                <a:close/>
              </a:path>
            </a:pathLst>
          </a:custGeom>
          <a:blipFill>
            <a:blip r:embed="rId3"/>
            <a:stretch>
              <a:fillRect l="0" t="0" r="0" b="0"/>
            </a:stretch>
          </a:blipFill>
        </p:spPr>
      </p:sp>
      <p:sp>
        <p:nvSpPr>
          <p:cNvPr name="Freeform 4" id="4"/>
          <p:cNvSpPr/>
          <p:nvPr/>
        </p:nvSpPr>
        <p:spPr>
          <a:xfrm flipH="false" flipV="false" rot="0">
            <a:off x="8921517" y="1188363"/>
            <a:ext cx="3407448" cy="8681395"/>
          </a:xfrm>
          <a:custGeom>
            <a:avLst/>
            <a:gdLst/>
            <a:ahLst/>
            <a:cxnLst/>
            <a:rect r="r" b="b" t="t" l="l"/>
            <a:pathLst>
              <a:path h="8681395" w="3407448">
                <a:moveTo>
                  <a:pt x="0" y="0"/>
                </a:moveTo>
                <a:lnTo>
                  <a:pt x="3407447" y="0"/>
                </a:lnTo>
                <a:lnTo>
                  <a:pt x="3407447" y="8681395"/>
                </a:lnTo>
                <a:lnTo>
                  <a:pt x="0" y="8681395"/>
                </a:lnTo>
                <a:lnTo>
                  <a:pt x="0" y="0"/>
                </a:lnTo>
                <a:close/>
              </a:path>
            </a:pathLst>
          </a:custGeom>
          <a:blipFill>
            <a:blip r:embed="rId4"/>
            <a:stretch>
              <a:fillRect l="0" t="0" r="0" b="0"/>
            </a:stretch>
          </a:blipFill>
        </p:spPr>
      </p:sp>
      <p:sp>
        <p:nvSpPr>
          <p:cNvPr name="TextBox 5" id="5"/>
          <p:cNvSpPr txBox="true"/>
          <p:nvPr/>
        </p:nvSpPr>
        <p:spPr>
          <a:xfrm rot="0">
            <a:off x="410433" y="331206"/>
            <a:ext cx="16416034" cy="419100"/>
          </a:xfrm>
          <a:prstGeom prst="rect">
            <a:avLst/>
          </a:prstGeom>
        </p:spPr>
        <p:txBody>
          <a:bodyPr anchor="t" rtlCol="false" tIns="0" lIns="0" bIns="0" rIns="0">
            <a:spAutoFit/>
          </a:bodyPr>
          <a:lstStyle/>
          <a:p>
            <a:pPr algn="l">
              <a:lnSpc>
                <a:spcPts val="3000"/>
              </a:lnSpc>
              <a:spcBef>
                <a:spcPct val="0"/>
              </a:spcBef>
            </a:pPr>
            <a:r>
              <a:rPr lang="en-US" b="true" sz="3000" spc="111">
                <a:solidFill>
                  <a:srgbClr val="000000"/>
                </a:solidFill>
                <a:latin typeface="Arial Bold"/>
                <a:ea typeface="Arial Bold"/>
                <a:cs typeface="Arial Bold"/>
                <a:sym typeface="Arial Bold"/>
              </a:rPr>
              <a:t>History of Rendering Image</a:t>
            </a:r>
          </a:p>
        </p:txBody>
      </p:sp>
      <p:sp>
        <p:nvSpPr>
          <p:cNvPr name="TextBox 6" id="6"/>
          <p:cNvSpPr txBox="true"/>
          <p:nvPr/>
        </p:nvSpPr>
        <p:spPr>
          <a:xfrm rot="0">
            <a:off x="228600" y="3354153"/>
            <a:ext cx="7880151" cy="6330727"/>
          </a:xfrm>
          <a:prstGeom prst="rect">
            <a:avLst/>
          </a:prstGeom>
        </p:spPr>
        <p:txBody>
          <a:bodyPr anchor="t" rtlCol="false" tIns="0" lIns="0" bIns="0" rIns="0">
            <a:spAutoFit/>
          </a:bodyPr>
          <a:lstStyle/>
          <a:p>
            <a:pPr algn="just">
              <a:lnSpc>
                <a:spcPts val="2944"/>
              </a:lnSpc>
              <a:spcBef>
                <a:spcPct val="0"/>
              </a:spcBef>
            </a:pPr>
            <a:r>
              <a:rPr lang="en-US" sz="2300" spc="85">
                <a:solidFill>
                  <a:srgbClr val="000000"/>
                </a:solidFill>
                <a:latin typeface="Arial"/>
                <a:ea typeface="Arial"/>
                <a:cs typeface="Arial"/>
                <a:sym typeface="Arial"/>
              </a:rPr>
              <a:t>I chose this image be</a:t>
            </a:r>
            <a:r>
              <a:rPr lang="en-US" sz="2300" spc="85">
                <a:solidFill>
                  <a:srgbClr val="000000"/>
                </a:solidFill>
                <a:latin typeface="Arial"/>
                <a:ea typeface="Arial"/>
                <a:cs typeface="Arial"/>
                <a:sym typeface="Arial"/>
              </a:rPr>
              <a:t>cause it represents an important moment where computer graphics techniques were used to enhance traditional hand-drawn animation rather than replace it. Before this work, animated characters were typically colored with flat shades because applying detailed textures frame-by-frame caused visual instability, often called “boiling” or “swimming.” This paper introduced a hybrid 2D/3D approach that uses a simple 3D model underneath hand-drawn artwork to keep textures stable while preserving the expressive quality of traditional cel animation. The technique was groundbreaking because it allowed complex textures to move consistently, respect depth and occlusion, and integrate seamlessly with hand-drawn characters, influencing later work in non-photorealistic rendering and hybrid animation pipelines.</a:t>
            </a:r>
          </a:p>
        </p:txBody>
      </p:sp>
      <p:sp>
        <p:nvSpPr>
          <p:cNvPr name="TextBox 7" id="7"/>
          <p:cNvSpPr txBox="true"/>
          <p:nvPr/>
        </p:nvSpPr>
        <p:spPr>
          <a:xfrm rot="0">
            <a:off x="228600" y="1906879"/>
            <a:ext cx="12976986" cy="386261"/>
          </a:xfrm>
          <a:prstGeom prst="rect">
            <a:avLst/>
          </a:prstGeom>
        </p:spPr>
        <p:txBody>
          <a:bodyPr anchor="t" rtlCol="false" tIns="0" lIns="0" bIns="0" rIns="0">
            <a:spAutoFit/>
          </a:bodyPr>
          <a:lstStyle/>
          <a:p>
            <a:pPr algn="l">
              <a:lnSpc>
                <a:spcPts val="2943"/>
              </a:lnSpc>
            </a:pPr>
            <a:r>
              <a:rPr lang="en-US" sz="2299" spc="85">
                <a:solidFill>
                  <a:srgbClr val="000000"/>
                </a:solidFill>
                <a:latin typeface="Arial"/>
                <a:ea typeface="Arial"/>
                <a:cs typeface="Arial"/>
                <a:sym typeface="Arial"/>
              </a:rPr>
              <a:t>C</a:t>
            </a:r>
            <a:r>
              <a:rPr lang="en-US" sz="2299" spc="85">
                <a:solidFill>
                  <a:srgbClr val="000000"/>
                </a:solidFill>
                <a:latin typeface="Arial"/>
                <a:ea typeface="Arial"/>
                <a:cs typeface="Arial"/>
                <a:sym typeface="Arial"/>
              </a:rPr>
              <a:t>or</a:t>
            </a:r>
            <a:r>
              <a:rPr lang="en-US" sz="2299" spc="85">
                <a:solidFill>
                  <a:srgbClr val="000000"/>
                </a:solidFill>
                <a:latin typeface="Arial"/>
                <a:ea typeface="Arial"/>
                <a:cs typeface="Arial"/>
                <a:sym typeface="Arial"/>
              </a:rPr>
              <a:t>rê</a:t>
            </a:r>
            <a:r>
              <a:rPr lang="en-US" sz="2299" spc="85">
                <a:solidFill>
                  <a:srgbClr val="000000"/>
                </a:solidFill>
                <a:latin typeface="Arial"/>
                <a:ea typeface="Arial"/>
                <a:cs typeface="Arial"/>
                <a:sym typeface="Arial"/>
              </a:rPr>
              <a:t>a,</a:t>
            </a:r>
            <a:r>
              <a:rPr lang="en-US" sz="2299" spc="85">
                <a:solidFill>
                  <a:srgbClr val="000000"/>
                </a:solidFill>
                <a:latin typeface="Arial"/>
                <a:ea typeface="Arial"/>
                <a:cs typeface="Arial"/>
                <a:sym typeface="Arial"/>
              </a:rPr>
              <a:t> Jen</a:t>
            </a:r>
            <a:r>
              <a:rPr lang="en-US" sz="2299" spc="85">
                <a:solidFill>
                  <a:srgbClr val="000000"/>
                </a:solidFill>
                <a:latin typeface="Arial"/>
                <a:ea typeface="Arial"/>
                <a:cs typeface="Arial"/>
                <a:sym typeface="Arial"/>
              </a:rPr>
              <a:t>sen,</a:t>
            </a:r>
            <a:r>
              <a:rPr lang="en-US" sz="2299" spc="85">
                <a:solidFill>
                  <a:srgbClr val="000000"/>
                </a:solidFill>
                <a:latin typeface="Arial"/>
                <a:ea typeface="Arial"/>
                <a:cs typeface="Arial"/>
                <a:sym typeface="Arial"/>
              </a:rPr>
              <a:t> Th</a:t>
            </a:r>
            <a:r>
              <a:rPr lang="en-US" sz="2299" spc="85">
                <a:solidFill>
                  <a:srgbClr val="000000"/>
                </a:solidFill>
                <a:latin typeface="Arial"/>
                <a:ea typeface="Arial"/>
                <a:cs typeface="Arial"/>
                <a:sym typeface="Arial"/>
              </a:rPr>
              <a:t>aye</a:t>
            </a:r>
            <a:r>
              <a:rPr lang="en-US" sz="2299" spc="85">
                <a:solidFill>
                  <a:srgbClr val="000000"/>
                </a:solidFill>
                <a:latin typeface="Arial"/>
                <a:ea typeface="Arial"/>
                <a:cs typeface="Arial"/>
                <a:sym typeface="Arial"/>
              </a:rPr>
              <a:t>r,</a:t>
            </a:r>
            <a:r>
              <a:rPr lang="en-US" sz="2299" spc="85">
                <a:solidFill>
                  <a:srgbClr val="000000"/>
                </a:solidFill>
                <a:latin typeface="Arial"/>
                <a:ea typeface="Arial"/>
                <a:cs typeface="Arial"/>
                <a:sym typeface="Arial"/>
              </a:rPr>
              <a:t> F</a:t>
            </a:r>
            <a:r>
              <a:rPr lang="en-US" sz="2299" spc="85">
                <a:solidFill>
                  <a:srgbClr val="000000"/>
                </a:solidFill>
                <a:latin typeface="Arial"/>
                <a:ea typeface="Arial"/>
                <a:cs typeface="Arial"/>
                <a:sym typeface="Arial"/>
              </a:rPr>
              <a:t>ink</a:t>
            </a:r>
            <a:r>
              <a:rPr lang="en-US" sz="2299" spc="85">
                <a:solidFill>
                  <a:srgbClr val="000000"/>
                </a:solidFill>
                <a:latin typeface="Arial"/>
                <a:ea typeface="Arial"/>
                <a:cs typeface="Arial"/>
                <a:sym typeface="Arial"/>
              </a:rPr>
              <a:t>elste</a:t>
            </a:r>
            <a:r>
              <a:rPr lang="en-US" sz="2299" spc="85">
                <a:solidFill>
                  <a:srgbClr val="000000"/>
                </a:solidFill>
                <a:latin typeface="Arial"/>
                <a:ea typeface="Arial"/>
                <a:cs typeface="Arial"/>
                <a:sym typeface="Arial"/>
              </a:rPr>
              <a:t>in</a:t>
            </a:r>
          </a:p>
        </p:txBody>
      </p:sp>
      <p:sp>
        <p:nvSpPr>
          <p:cNvPr name="TextBox 8" id="8"/>
          <p:cNvSpPr txBox="true"/>
          <p:nvPr/>
        </p:nvSpPr>
        <p:spPr>
          <a:xfrm rot="0">
            <a:off x="0" y="1317369"/>
            <a:ext cx="8720325" cy="386261"/>
          </a:xfrm>
          <a:prstGeom prst="rect">
            <a:avLst/>
          </a:prstGeom>
        </p:spPr>
        <p:txBody>
          <a:bodyPr anchor="t" rtlCol="false" tIns="0" lIns="0" bIns="0" rIns="0">
            <a:spAutoFit/>
          </a:bodyPr>
          <a:lstStyle/>
          <a:p>
            <a:pPr algn="ctr">
              <a:lnSpc>
                <a:spcPts val="2943"/>
              </a:lnSpc>
              <a:spcBef>
                <a:spcPct val="0"/>
              </a:spcBef>
            </a:pPr>
            <a:r>
              <a:rPr lang="en-US" b="true" sz="2299" spc="85" u="sng">
                <a:solidFill>
                  <a:srgbClr val="000000"/>
                </a:solidFill>
                <a:latin typeface="Arial Bold"/>
                <a:ea typeface="Arial Bold"/>
                <a:cs typeface="Arial Bold"/>
                <a:sym typeface="Arial Bold"/>
                <a:hlinkClick r:id="rId5" tooltip="https://dl.acm.org/doi/10.1145/280814.280949"/>
              </a:rPr>
              <a:t>Texture Mapping for Cel Animation (SIGGRAPH 1998):</a:t>
            </a:r>
          </a:p>
        </p:txBody>
      </p:sp>
      <p:sp>
        <p:nvSpPr>
          <p:cNvPr name="TextBox 9" id="9"/>
          <p:cNvSpPr txBox="true"/>
          <p:nvPr/>
        </p:nvSpPr>
        <p:spPr>
          <a:xfrm rot="0">
            <a:off x="228600" y="2777392"/>
            <a:ext cx="1912867" cy="386261"/>
          </a:xfrm>
          <a:prstGeom prst="rect">
            <a:avLst/>
          </a:prstGeom>
        </p:spPr>
        <p:txBody>
          <a:bodyPr anchor="t" rtlCol="false" tIns="0" lIns="0" bIns="0" rIns="0">
            <a:spAutoFit/>
          </a:bodyPr>
          <a:lstStyle/>
          <a:p>
            <a:pPr algn="ctr">
              <a:lnSpc>
                <a:spcPts val="2943"/>
              </a:lnSpc>
              <a:spcBef>
                <a:spcPct val="0"/>
              </a:spcBef>
            </a:pPr>
            <a:r>
              <a:rPr lang="en-US" b="true" sz="2299" spc="85">
                <a:solidFill>
                  <a:srgbClr val="000000"/>
                </a:solidFill>
                <a:latin typeface="Arial Bold"/>
                <a:ea typeface="Arial Bold"/>
                <a:cs typeface="Arial Bold"/>
                <a:sym typeface="Arial Bold"/>
              </a:rPr>
              <a:t>Description</a:t>
            </a:r>
          </a:p>
        </p:txBody>
      </p:sp>
      <p:sp>
        <p:nvSpPr>
          <p:cNvPr name="TextBox 10" id="10"/>
          <p:cNvSpPr txBox="true"/>
          <p:nvPr/>
        </p:nvSpPr>
        <p:spPr>
          <a:xfrm rot="0">
            <a:off x="228600" y="2335558"/>
            <a:ext cx="3669534" cy="252168"/>
          </a:xfrm>
          <a:prstGeom prst="rect">
            <a:avLst/>
          </a:prstGeom>
        </p:spPr>
        <p:txBody>
          <a:bodyPr anchor="t" rtlCol="false" tIns="0" lIns="0" bIns="0" rIns="0">
            <a:spAutoFit/>
          </a:bodyPr>
          <a:lstStyle/>
          <a:p>
            <a:pPr algn="l">
              <a:lnSpc>
                <a:spcPts val="1989"/>
              </a:lnSpc>
            </a:pPr>
            <a:r>
              <a:rPr lang="en-US" sz="1421" u="sng">
                <a:solidFill>
                  <a:srgbClr val="000000"/>
                </a:solidFill>
                <a:latin typeface="Arimo"/>
                <a:ea typeface="Arimo"/>
                <a:cs typeface="Arimo"/>
                <a:sym typeface="Arimo"/>
                <a:hlinkClick r:id="rId6" tooltip="https://dl.acm.org/doi/10.1145/280814.280949"/>
              </a:rPr>
              <a:t>https://dl.acm.org/doi/10.1145/280814.280949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0684" y="3882261"/>
            <a:ext cx="4231315" cy="4268665"/>
          </a:xfrm>
          <a:custGeom>
            <a:avLst/>
            <a:gdLst/>
            <a:ahLst/>
            <a:cxnLst/>
            <a:rect r="r" b="b" t="t" l="l"/>
            <a:pathLst>
              <a:path h="4268665" w="4231315">
                <a:moveTo>
                  <a:pt x="0" y="0"/>
                </a:moveTo>
                <a:lnTo>
                  <a:pt x="4231315" y="0"/>
                </a:lnTo>
                <a:lnTo>
                  <a:pt x="4231315" y="4268665"/>
                </a:lnTo>
                <a:lnTo>
                  <a:pt x="0" y="4268665"/>
                </a:lnTo>
                <a:lnTo>
                  <a:pt x="0" y="0"/>
                </a:lnTo>
                <a:close/>
              </a:path>
            </a:pathLst>
          </a:custGeom>
          <a:blipFill>
            <a:blip r:embed="rId2"/>
            <a:stretch>
              <a:fillRect l="0" t="0" r="0" b="0"/>
            </a:stretch>
          </a:blipFill>
        </p:spPr>
      </p:sp>
      <p:sp>
        <p:nvSpPr>
          <p:cNvPr name="Freeform 3" id="3"/>
          <p:cNvSpPr/>
          <p:nvPr/>
        </p:nvSpPr>
        <p:spPr>
          <a:xfrm flipH="false" flipV="false" rot="0">
            <a:off x="4464936" y="3882261"/>
            <a:ext cx="4331339" cy="4268665"/>
          </a:xfrm>
          <a:custGeom>
            <a:avLst/>
            <a:gdLst/>
            <a:ahLst/>
            <a:cxnLst/>
            <a:rect r="r" b="b" t="t" l="l"/>
            <a:pathLst>
              <a:path h="4268665" w="4331339">
                <a:moveTo>
                  <a:pt x="0" y="0"/>
                </a:moveTo>
                <a:lnTo>
                  <a:pt x="4331338" y="0"/>
                </a:lnTo>
                <a:lnTo>
                  <a:pt x="4331338" y="4268665"/>
                </a:lnTo>
                <a:lnTo>
                  <a:pt x="0" y="4268665"/>
                </a:lnTo>
                <a:lnTo>
                  <a:pt x="0" y="0"/>
                </a:lnTo>
                <a:close/>
              </a:path>
            </a:pathLst>
          </a:custGeom>
          <a:blipFill>
            <a:blip r:embed="rId3"/>
            <a:stretch>
              <a:fillRect l="-4004" t="-6385" r="-3432" b="-2902"/>
            </a:stretch>
          </a:blipFill>
        </p:spPr>
      </p:sp>
      <p:sp>
        <p:nvSpPr>
          <p:cNvPr name="Freeform 4" id="4"/>
          <p:cNvSpPr/>
          <p:nvPr/>
        </p:nvSpPr>
        <p:spPr>
          <a:xfrm flipH="false" flipV="false" rot="0">
            <a:off x="8872474" y="3882261"/>
            <a:ext cx="4322699" cy="4268665"/>
          </a:xfrm>
          <a:custGeom>
            <a:avLst/>
            <a:gdLst/>
            <a:ahLst/>
            <a:cxnLst/>
            <a:rect r="r" b="b" t="t" l="l"/>
            <a:pathLst>
              <a:path h="4268665" w="4322699">
                <a:moveTo>
                  <a:pt x="0" y="0"/>
                </a:moveTo>
                <a:lnTo>
                  <a:pt x="4322699" y="0"/>
                </a:lnTo>
                <a:lnTo>
                  <a:pt x="4322699" y="4268665"/>
                </a:lnTo>
                <a:lnTo>
                  <a:pt x="0" y="4268665"/>
                </a:lnTo>
                <a:lnTo>
                  <a:pt x="0" y="0"/>
                </a:lnTo>
                <a:close/>
              </a:path>
            </a:pathLst>
          </a:custGeom>
          <a:blipFill>
            <a:blip r:embed="rId4"/>
            <a:stretch>
              <a:fillRect l="0" t="0" r="0" b="0"/>
            </a:stretch>
          </a:blipFill>
        </p:spPr>
      </p:sp>
      <p:sp>
        <p:nvSpPr>
          <p:cNvPr name="Freeform 5" id="5"/>
          <p:cNvSpPr/>
          <p:nvPr/>
        </p:nvSpPr>
        <p:spPr>
          <a:xfrm flipH="false" flipV="false" rot="0">
            <a:off x="13290301" y="3882261"/>
            <a:ext cx="4837015" cy="4268665"/>
          </a:xfrm>
          <a:custGeom>
            <a:avLst/>
            <a:gdLst/>
            <a:ahLst/>
            <a:cxnLst/>
            <a:rect r="r" b="b" t="t" l="l"/>
            <a:pathLst>
              <a:path h="4268665" w="4837015">
                <a:moveTo>
                  <a:pt x="0" y="0"/>
                </a:moveTo>
                <a:lnTo>
                  <a:pt x="4837015" y="0"/>
                </a:lnTo>
                <a:lnTo>
                  <a:pt x="4837015" y="4268665"/>
                </a:lnTo>
                <a:lnTo>
                  <a:pt x="0" y="4268665"/>
                </a:lnTo>
                <a:lnTo>
                  <a:pt x="0" y="0"/>
                </a:lnTo>
                <a:close/>
              </a:path>
            </a:pathLst>
          </a:custGeom>
          <a:blipFill>
            <a:blip r:embed="rId5"/>
            <a:stretch>
              <a:fillRect l="0" t="0" r="0" b="0"/>
            </a:stretch>
          </a:blipFill>
        </p:spPr>
      </p:sp>
      <p:sp>
        <p:nvSpPr>
          <p:cNvPr name="TextBox 6" id="6"/>
          <p:cNvSpPr txBox="true"/>
          <p:nvPr/>
        </p:nvSpPr>
        <p:spPr>
          <a:xfrm rot="0">
            <a:off x="410433" y="331206"/>
            <a:ext cx="16416034" cy="419100"/>
          </a:xfrm>
          <a:prstGeom prst="rect">
            <a:avLst/>
          </a:prstGeom>
        </p:spPr>
        <p:txBody>
          <a:bodyPr anchor="t" rtlCol="false" tIns="0" lIns="0" bIns="0" rIns="0">
            <a:spAutoFit/>
          </a:bodyPr>
          <a:lstStyle/>
          <a:p>
            <a:pPr algn="l">
              <a:lnSpc>
                <a:spcPts val="3000"/>
              </a:lnSpc>
              <a:spcBef>
                <a:spcPct val="0"/>
              </a:spcBef>
            </a:pPr>
            <a:r>
              <a:rPr lang="en-US" b="true" sz="3000" spc="111">
                <a:solidFill>
                  <a:srgbClr val="000000"/>
                </a:solidFill>
                <a:latin typeface="Arial Bold"/>
                <a:ea typeface="Arial Bold"/>
                <a:cs typeface="Arial Bold"/>
                <a:sym typeface="Arial Bold"/>
              </a:rPr>
              <a:t>Mesh Visualization: Roaring Lion Sculpture (METAStadt, Vienna)</a:t>
            </a:r>
          </a:p>
        </p:txBody>
      </p:sp>
      <p:sp>
        <p:nvSpPr>
          <p:cNvPr name="TextBox 7" id="7"/>
          <p:cNvSpPr txBox="true"/>
          <p:nvPr/>
        </p:nvSpPr>
        <p:spPr>
          <a:xfrm rot="0">
            <a:off x="410433" y="990600"/>
            <a:ext cx="17187987" cy="2615436"/>
          </a:xfrm>
          <a:prstGeom prst="rect">
            <a:avLst/>
          </a:prstGeom>
        </p:spPr>
        <p:txBody>
          <a:bodyPr anchor="t" rtlCol="false" tIns="0" lIns="0" bIns="0" rIns="0">
            <a:spAutoFit/>
          </a:bodyPr>
          <a:lstStyle/>
          <a:p>
            <a:pPr algn="just">
              <a:lnSpc>
                <a:spcPts val="2944"/>
              </a:lnSpc>
              <a:spcBef>
                <a:spcPct val="0"/>
              </a:spcBef>
            </a:pPr>
            <a:r>
              <a:rPr lang="en-US" sz="2300" spc="85">
                <a:solidFill>
                  <a:srgbClr val="000000"/>
                </a:solidFill>
                <a:latin typeface="Arial"/>
                <a:ea typeface="Arial"/>
                <a:cs typeface="Arial"/>
                <a:sym typeface="Arial"/>
              </a:rPr>
              <a:t>For the me</a:t>
            </a:r>
            <a:r>
              <a:rPr lang="en-US" sz="2300" spc="85">
                <a:solidFill>
                  <a:srgbClr val="000000"/>
                </a:solidFill>
                <a:latin typeface="Arial"/>
                <a:ea typeface="Arial"/>
                <a:cs typeface="Arial"/>
                <a:sym typeface="Arial"/>
              </a:rPr>
              <a:t>sh visualization portion of this assignment, I used a 3D model of a roaring lion sculpture located at the METAStadt site, a former industrial complex in Vienna’s 22nd district that is now used for concerts, events, and flea markets. The sculpture is part of the collection provided by Antik-Möbel-Hesz. Using MeshLab, I examined the lion mesh from multiple viewpoints to better understand its geometric structure, surface detail, and overall form. Rotating the mesh highlights how complex shapes, such as facial features and the mane, are represented using polygonal geometry. This exercise helped illustrate how real-world objects can be captured as digital meshes and how viewing angle and lighting influence the perception of 3D models in rendering workflows.</a:t>
            </a:r>
          </a:p>
        </p:txBody>
      </p:sp>
      <p:sp>
        <p:nvSpPr>
          <p:cNvPr name="TextBox 8" id="8"/>
          <p:cNvSpPr txBox="true"/>
          <p:nvPr/>
        </p:nvSpPr>
        <p:spPr>
          <a:xfrm rot="0">
            <a:off x="160684" y="8264190"/>
            <a:ext cx="3916758" cy="1555531"/>
          </a:xfrm>
          <a:prstGeom prst="rect">
            <a:avLst/>
          </a:prstGeom>
        </p:spPr>
        <p:txBody>
          <a:bodyPr anchor="t" rtlCol="false" tIns="0" lIns="0" bIns="0" rIns="0">
            <a:spAutoFit/>
          </a:bodyPr>
          <a:lstStyle/>
          <a:p>
            <a:pPr algn="just">
              <a:lnSpc>
                <a:spcPts val="2047"/>
              </a:lnSpc>
            </a:pPr>
            <a:r>
              <a:rPr lang="en-US" sz="1599" spc="59">
                <a:solidFill>
                  <a:srgbClr val="000000"/>
                </a:solidFill>
                <a:latin typeface="Arial"/>
                <a:ea typeface="Arial"/>
                <a:cs typeface="Arial"/>
                <a:sym typeface="Arial"/>
              </a:rPr>
              <a:t>Wi</a:t>
            </a:r>
            <a:r>
              <a:rPr lang="en-US" sz="1599" spc="59">
                <a:solidFill>
                  <a:srgbClr val="000000"/>
                </a:solidFill>
                <a:latin typeface="Arial"/>
                <a:ea typeface="Arial"/>
                <a:cs typeface="Arial"/>
                <a:sym typeface="Arial"/>
              </a:rPr>
              <a:t>ref</a:t>
            </a:r>
            <a:r>
              <a:rPr lang="en-US" sz="1599" spc="59">
                <a:solidFill>
                  <a:srgbClr val="000000"/>
                </a:solidFill>
                <a:latin typeface="Arial"/>
                <a:ea typeface="Arial"/>
                <a:cs typeface="Arial"/>
                <a:sym typeface="Arial"/>
              </a:rPr>
              <a:t>r</a:t>
            </a:r>
            <a:r>
              <a:rPr lang="en-US" sz="1599" spc="59">
                <a:solidFill>
                  <a:srgbClr val="000000"/>
                </a:solidFill>
                <a:latin typeface="Arial"/>
                <a:ea typeface="Arial"/>
                <a:cs typeface="Arial"/>
                <a:sym typeface="Arial"/>
              </a:rPr>
              <a:t>ame</a:t>
            </a:r>
            <a:r>
              <a:rPr lang="en-US" sz="1599" spc="59">
                <a:solidFill>
                  <a:srgbClr val="000000"/>
                </a:solidFill>
                <a:latin typeface="Arial"/>
                <a:ea typeface="Arial"/>
                <a:cs typeface="Arial"/>
                <a:sym typeface="Arial"/>
              </a:rPr>
              <a:t> view:</a:t>
            </a:r>
          </a:p>
          <a:p>
            <a:pPr algn="just">
              <a:lnSpc>
                <a:spcPts val="2047"/>
              </a:lnSpc>
            </a:pPr>
            <a:r>
              <a:rPr lang="en-US" sz="1599" spc="59">
                <a:solidFill>
                  <a:srgbClr val="000000"/>
                </a:solidFill>
                <a:latin typeface="Arial"/>
                <a:ea typeface="Arial"/>
                <a:cs typeface="Arial"/>
                <a:sym typeface="Arial"/>
              </a:rPr>
              <a:t>The wireframe visualization reveal</a:t>
            </a:r>
            <a:r>
              <a:rPr lang="en-US" sz="1599" spc="59">
                <a:solidFill>
                  <a:srgbClr val="000000"/>
                </a:solidFill>
                <a:latin typeface="Arial"/>
                <a:ea typeface="Arial"/>
                <a:cs typeface="Arial"/>
                <a:sym typeface="Arial"/>
              </a:rPr>
              <a:t>s the underlying polygonal structure of the lion mesh,</a:t>
            </a:r>
            <a:r>
              <a:rPr lang="en-US" sz="1599" spc="59">
                <a:solidFill>
                  <a:srgbClr val="000000"/>
                </a:solidFill>
                <a:latin typeface="Arial"/>
                <a:ea typeface="Arial"/>
                <a:cs typeface="Arial"/>
                <a:sym typeface="Arial"/>
              </a:rPr>
              <a:t> showing how its complex form is construct</a:t>
            </a:r>
            <a:r>
              <a:rPr lang="en-US" sz="1599" spc="59">
                <a:solidFill>
                  <a:srgbClr val="000000"/>
                </a:solidFill>
                <a:latin typeface="Arial"/>
                <a:ea typeface="Arial"/>
                <a:cs typeface="Arial"/>
                <a:sym typeface="Arial"/>
              </a:rPr>
              <a:t>ed f</a:t>
            </a:r>
            <a:r>
              <a:rPr lang="en-US" sz="1599" spc="59">
                <a:solidFill>
                  <a:srgbClr val="000000"/>
                </a:solidFill>
                <a:latin typeface="Arial"/>
                <a:ea typeface="Arial"/>
                <a:cs typeface="Arial"/>
                <a:sym typeface="Arial"/>
              </a:rPr>
              <a:t>rom</a:t>
            </a:r>
            <a:r>
              <a:rPr lang="en-US" sz="1599" spc="59">
                <a:solidFill>
                  <a:srgbClr val="000000"/>
                </a:solidFill>
                <a:latin typeface="Arial"/>
                <a:ea typeface="Arial"/>
                <a:cs typeface="Arial"/>
                <a:sym typeface="Arial"/>
              </a:rPr>
              <a:t> </a:t>
            </a:r>
            <a:r>
              <a:rPr lang="en-US" sz="1599" spc="59">
                <a:solidFill>
                  <a:srgbClr val="000000"/>
                </a:solidFill>
                <a:latin typeface="Arial"/>
                <a:ea typeface="Arial"/>
                <a:cs typeface="Arial"/>
                <a:sym typeface="Arial"/>
              </a:rPr>
              <a:t>interconn</a:t>
            </a:r>
            <a:r>
              <a:rPr lang="en-US" sz="1599" spc="59">
                <a:solidFill>
                  <a:srgbClr val="000000"/>
                </a:solidFill>
                <a:latin typeface="Arial"/>
                <a:ea typeface="Arial"/>
                <a:cs typeface="Arial"/>
                <a:sym typeface="Arial"/>
              </a:rPr>
              <a:t>ected tr</a:t>
            </a:r>
            <a:r>
              <a:rPr lang="en-US" sz="1599" spc="59">
                <a:solidFill>
                  <a:srgbClr val="000000"/>
                </a:solidFill>
                <a:latin typeface="Arial"/>
                <a:ea typeface="Arial"/>
                <a:cs typeface="Arial"/>
                <a:sym typeface="Arial"/>
              </a:rPr>
              <a:t>iangles.</a:t>
            </a:r>
          </a:p>
        </p:txBody>
      </p:sp>
      <p:sp>
        <p:nvSpPr>
          <p:cNvPr name="TextBox 9" id="9"/>
          <p:cNvSpPr txBox="true"/>
          <p:nvPr/>
        </p:nvSpPr>
        <p:spPr>
          <a:xfrm rot="0">
            <a:off x="8872474" y="8264190"/>
            <a:ext cx="3916758" cy="1555531"/>
          </a:xfrm>
          <a:prstGeom prst="rect">
            <a:avLst/>
          </a:prstGeom>
        </p:spPr>
        <p:txBody>
          <a:bodyPr anchor="t" rtlCol="false" tIns="0" lIns="0" bIns="0" rIns="0">
            <a:spAutoFit/>
          </a:bodyPr>
          <a:lstStyle/>
          <a:p>
            <a:pPr algn="l">
              <a:lnSpc>
                <a:spcPts val="2047"/>
              </a:lnSpc>
            </a:pPr>
            <a:r>
              <a:rPr lang="en-US" sz="1599" spc="59">
                <a:solidFill>
                  <a:srgbClr val="000000"/>
                </a:solidFill>
                <a:latin typeface="Arial"/>
                <a:ea typeface="Arial"/>
                <a:cs typeface="Arial"/>
                <a:sym typeface="Arial"/>
              </a:rPr>
              <a:t>P</a:t>
            </a:r>
            <a:r>
              <a:rPr lang="en-US" sz="1599" spc="59">
                <a:solidFill>
                  <a:srgbClr val="000000"/>
                </a:solidFill>
                <a:latin typeface="Arial"/>
                <a:ea typeface="Arial"/>
                <a:cs typeface="Arial"/>
                <a:sym typeface="Arial"/>
              </a:rPr>
              <a:t>oints view:</a:t>
            </a:r>
          </a:p>
          <a:p>
            <a:pPr algn="l">
              <a:lnSpc>
                <a:spcPts val="2047"/>
              </a:lnSpc>
            </a:pPr>
            <a:r>
              <a:rPr lang="en-US" sz="1599" spc="59">
                <a:solidFill>
                  <a:srgbClr val="000000"/>
                </a:solidFill>
                <a:latin typeface="Arial"/>
                <a:ea typeface="Arial"/>
                <a:cs typeface="Arial"/>
                <a:sym typeface="Arial"/>
              </a:rPr>
              <a:t>The point</a:t>
            </a:r>
            <a:r>
              <a:rPr lang="en-US" sz="1599" spc="59">
                <a:solidFill>
                  <a:srgbClr val="000000"/>
                </a:solidFill>
                <a:latin typeface="Arial"/>
                <a:ea typeface="Arial"/>
                <a:cs typeface="Arial"/>
                <a:sym typeface="Arial"/>
              </a:rPr>
              <a:t>s view</a:t>
            </a:r>
            <a:r>
              <a:rPr lang="en-US" sz="1599" spc="59">
                <a:solidFill>
                  <a:srgbClr val="000000"/>
                </a:solidFill>
                <a:latin typeface="Arial"/>
                <a:ea typeface="Arial"/>
                <a:cs typeface="Arial"/>
                <a:sym typeface="Arial"/>
              </a:rPr>
              <a:t> displ</a:t>
            </a:r>
            <a:r>
              <a:rPr lang="en-US" sz="1599" spc="59">
                <a:solidFill>
                  <a:srgbClr val="000000"/>
                </a:solidFill>
                <a:latin typeface="Arial"/>
                <a:ea typeface="Arial"/>
                <a:cs typeface="Arial"/>
                <a:sym typeface="Arial"/>
              </a:rPr>
              <a:t>ays the individual ve</a:t>
            </a:r>
            <a:r>
              <a:rPr lang="en-US" sz="1599" spc="59">
                <a:solidFill>
                  <a:srgbClr val="000000"/>
                </a:solidFill>
                <a:latin typeface="Arial"/>
                <a:ea typeface="Arial"/>
                <a:cs typeface="Arial"/>
                <a:sym typeface="Arial"/>
              </a:rPr>
              <a:t>rtices of the mesh,</a:t>
            </a:r>
            <a:r>
              <a:rPr lang="en-US" sz="1599" spc="59">
                <a:solidFill>
                  <a:srgbClr val="000000"/>
                </a:solidFill>
                <a:latin typeface="Arial"/>
                <a:ea typeface="Arial"/>
                <a:cs typeface="Arial"/>
                <a:sym typeface="Arial"/>
              </a:rPr>
              <a:t> illustrat</a:t>
            </a:r>
            <a:r>
              <a:rPr lang="en-US" sz="1599" spc="59">
                <a:solidFill>
                  <a:srgbClr val="000000"/>
                </a:solidFill>
                <a:latin typeface="Arial"/>
                <a:ea typeface="Arial"/>
                <a:cs typeface="Arial"/>
                <a:sym typeface="Arial"/>
              </a:rPr>
              <a:t>ing the d</a:t>
            </a:r>
            <a:r>
              <a:rPr lang="en-US" sz="1599" spc="59">
                <a:solidFill>
                  <a:srgbClr val="000000"/>
                </a:solidFill>
                <a:latin typeface="Arial"/>
                <a:ea typeface="Arial"/>
                <a:cs typeface="Arial"/>
                <a:sym typeface="Arial"/>
              </a:rPr>
              <a:t>ensity and distribution of sampled geometry across detailed reg</a:t>
            </a:r>
            <a:r>
              <a:rPr lang="en-US" sz="1599" spc="59">
                <a:solidFill>
                  <a:srgbClr val="000000"/>
                </a:solidFill>
                <a:latin typeface="Arial"/>
                <a:ea typeface="Arial"/>
                <a:cs typeface="Arial"/>
                <a:sym typeface="Arial"/>
              </a:rPr>
              <a:t>ions such as the face and mane.</a:t>
            </a:r>
          </a:p>
        </p:txBody>
      </p:sp>
      <p:sp>
        <p:nvSpPr>
          <p:cNvPr name="TextBox 10" id="10"/>
          <p:cNvSpPr txBox="true"/>
          <p:nvPr/>
        </p:nvSpPr>
        <p:spPr>
          <a:xfrm rot="0">
            <a:off x="4464936" y="8264190"/>
            <a:ext cx="3916758" cy="1555531"/>
          </a:xfrm>
          <a:prstGeom prst="rect">
            <a:avLst/>
          </a:prstGeom>
        </p:spPr>
        <p:txBody>
          <a:bodyPr anchor="t" rtlCol="false" tIns="0" lIns="0" bIns="0" rIns="0">
            <a:spAutoFit/>
          </a:bodyPr>
          <a:lstStyle/>
          <a:p>
            <a:pPr algn="l">
              <a:lnSpc>
                <a:spcPts val="2047"/>
              </a:lnSpc>
            </a:pPr>
            <a:r>
              <a:rPr lang="en-US" sz="1599" spc="59">
                <a:solidFill>
                  <a:srgbClr val="000000"/>
                </a:solidFill>
                <a:latin typeface="Arial"/>
                <a:ea typeface="Arial"/>
                <a:cs typeface="Arial"/>
                <a:sym typeface="Arial"/>
              </a:rPr>
              <a:t>Fr</a:t>
            </a:r>
            <a:r>
              <a:rPr lang="en-US" sz="1599" spc="59">
                <a:solidFill>
                  <a:srgbClr val="000000"/>
                </a:solidFill>
                <a:latin typeface="Arial"/>
                <a:ea typeface="Arial"/>
                <a:cs typeface="Arial"/>
                <a:sym typeface="Arial"/>
              </a:rPr>
              <a:t>ont (face) view:</a:t>
            </a:r>
          </a:p>
          <a:p>
            <a:pPr algn="l">
              <a:lnSpc>
                <a:spcPts val="2047"/>
              </a:lnSpc>
            </a:pPr>
            <a:r>
              <a:rPr lang="en-US" sz="1599" spc="59">
                <a:solidFill>
                  <a:srgbClr val="000000"/>
                </a:solidFill>
                <a:latin typeface="Arial"/>
                <a:ea typeface="Arial"/>
                <a:cs typeface="Arial"/>
                <a:sym typeface="Arial"/>
              </a:rPr>
              <a:t>The front</a:t>
            </a:r>
            <a:r>
              <a:rPr lang="en-US" sz="1599" spc="59">
                <a:solidFill>
                  <a:srgbClr val="000000"/>
                </a:solidFill>
                <a:latin typeface="Arial"/>
                <a:ea typeface="Arial"/>
                <a:cs typeface="Arial"/>
                <a:sym typeface="Arial"/>
              </a:rPr>
              <a:t> view</a:t>
            </a:r>
            <a:r>
              <a:rPr lang="en-US" sz="1599" spc="59">
                <a:solidFill>
                  <a:srgbClr val="000000"/>
                </a:solidFill>
                <a:latin typeface="Arial"/>
                <a:ea typeface="Arial"/>
                <a:cs typeface="Arial"/>
                <a:sym typeface="Arial"/>
              </a:rPr>
              <a:t> focuse</a:t>
            </a:r>
            <a:r>
              <a:rPr lang="en-US" sz="1599" spc="59">
                <a:solidFill>
                  <a:srgbClr val="000000"/>
                </a:solidFill>
                <a:latin typeface="Arial"/>
                <a:ea typeface="Arial"/>
                <a:cs typeface="Arial"/>
                <a:sym typeface="Arial"/>
              </a:rPr>
              <a:t>s on the facial ge</a:t>
            </a:r>
            <a:r>
              <a:rPr lang="en-US" sz="1599" spc="59">
                <a:solidFill>
                  <a:srgbClr val="000000"/>
                </a:solidFill>
                <a:latin typeface="Arial"/>
                <a:ea typeface="Arial"/>
                <a:cs typeface="Arial"/>
                <a:sym typeface="Arial"/>
              </a:rPr>
              <a:t>ometry,</a:t>
            </a:r>
            <a:r>
              <a:rPr lang="en-US" sz="1599" spc="59">
                <a:solidFill>
                  <a:srgbClr val="000000"/>
                </a:solidFill>
                <a:latin typeface="Arial"/>
                <a:ea typeface="Arial"/>
                <a:cs typeface="Arial"/>
                <a:sym typeface="Arial"/>
              </a:rPr>
              <a:t> demonstrat</a:t>
            </a:r>
            <a:r>
              <a:rPr lang="en-US" sz="1599" spc="59">
                <a:solidFill>
                  <a:srgbClr val="000000"/>
                </a:solidFill>
                <a:latin typeface="Arial"/>
                <a:ea typeface="Arial"/>
                <a:cs typeface="Arial"/>
                <a:sym typeface="Arial"/>
              </a:rPr>
              <a:t>ing how </a:t>
            </a:r>
            <a:r>
              <a:rPr lang="en-US" sz="1599" spc="59">
                <a:solidFill>
                  <a:srgbClr val="000000"/>
                </a:solidFill>
                <a:latin typeface="Arial"/>
                <a:ea typeface="Arial"/>
                <a:cs typeface="Arial"/>
                <a:sym typeface="Arial"/>
              </a:rPr>
              <a:t>expressive features like the open mouth and contours are captured thr</a:t>
            </a:r>
            <a:r>
              <a:rPr lang="en-US" sz="1599" spc="59">
                <a:solidFill>
                  <a:srgbClr val="000000"/>
                </a:solidFill>
                <a:latin typeface="Arial"/>
                <a:ea typeface="Arial"/>
                <a:cs typeface="Arial"/>
                <a:sym typeface="Arial"/>
              </a:rPr>
              <a:t>ough polygonal detail.</a:t>
            </a:r>
          </a:p>
        </p:txBody>
      </p:sp>
      <p:sp>
        <p:nvSpPr>
          <p:cNvPr name="TextBox 11" id="11"/>
          <p:cNvSpPr txBox="true"/>
          <p:nvPr/>
        </p:nvSpPr>
        <p:spPr>
          <a:xfrm rot="0">
            <a:off x="13290301" y="8264190"/>
            <a:ext cx="3916758" cy="1298329"/>
          </a:xfrm>
          <a:prstGeom prst="rect">
            <a:avLst/>
          </a:prstGeom>
        </p:spPr>
        <p:txBody>
          <a:bodyPr anchor="t" rtlCol="false" tIns="0" lIns="0" bIns="0" rIns="0">
            <a:spAutoFit/>
          </a:bodyPr>
          <a:lstStyle/>
          <a:p>
            <a:pPr algn="l">
              <a:lnSpc>
                <a:spcPts val="2047"/>
              </a:lnSpc>
            </a:pPr>
            <a:r>
              <a:rPr lang="en-US" sz="1599" spc="59">
                <a:solidFill>
                  <a:srgbClr val="000000"/>
                </a:solidFill>
                <a:latin typeface="Arial"/>
                <a:ea typeface="Arial"/>
                <a:cs typeface="Arial"/>
                <a:sym typeface="Arial"/>
              </a:rPr>
              <a:t>S</a:t>
            </a:r>
            <a:r>
              <a:rPr lang="en-US" sz="1599" spc="59">
                <a:solidFill>
                  <a:srgbClr val="000000"/>
                </a:solidFill>
                <a:latin typeface="Arial"/>
                <a:ea typeface="Arial"/>
                <a:cs typeface="Arial"/>
                <a:sym typeface="Arial"/>
              </a:rPr>
              <a:t>ide view:</a:t>
            </a:r>
          </a:p>
          <a:p>
            <a:pPr algn="l">
              <a:lnSpc>
                <a:spcPts val="2047"/>
              </a:lnSpc>
            </a:pPr>
            <a:r>
              <a:rPr lang="en-US" sz="1599" spc="59">
                <a:solidFill>
                  <a:srgbClr val="000000"/>
                </a:solidFill>
                <a:latin typeface="Arial"/>
                <a:ea typeface="Arial"/>
                <a:cs typeface="Arial"/>
                <a:sym typeface="Arial"/>
              </a:rPr>
              <a:t>The </a:t>
            </a:r>
            <a:r>
              <a:rPr lang="en-US" sz="1599" spc="59">
                <a:solidFill>
                  <a:srgbClr val="000000"/>
                </a:solidFill>
                <a:latin typeface="Arial"/>
                <a:ea typeface="Arial"/>
                <a:cs typeface="Arial"/>
                <a:sym typeface="Arial"/>
              </a:rPr>
              <a:t>side view</a:t>
            </a:r>
            <a:r>
              <a:rPr lang="en-US" sz="1599" spc="59">
                <a:solidFill>
                  <a:srgbClr val="000000"/>
                </a:solidFill>
                <a:latin typeface="Arial"/>
                <a:ea typeface="Arial"/>
                <a:cs typeface="Arial"/>
                <a:sym typeface="Arial"/>
              </a:rPr>
              <a:t> highlight</a:t>
            </a:r>
            <a:r>
              <a:rPr lang="en-US" sz="1599" spc="59">
                <a:solidFill>
                  <a:srgbClr val="000000"/>
                </a:solidFill>
                <a:latin typeface="Arial"/>
                <a:ea typeface="Arial"/>
                <a:cs typeface="Arial"/>
                <a:sym typeface="Arial"/>
              </a:rPr>
              <a:t>s the overall silhouette and propo</a:t>
            </a:r>
            <a:r>
              <a:rPr lang="en-US" sz="1599" spc="59">
                <a:solidFill>
                  <a:srgbClr val="000000"/>
                </a:solidFill>
                <a:latin typeface="Arial"/>
                <a:ea typeface="Arial"/>
                <a:cs typeface="Arial"/>
                <a:sym typeface="Arial"/>
              </a:rPr>
              <a:t>rtions of the lion, emphas</a:t>
            </a:r>
            <a:r>
              <a:rPr lang="en-US" sz="1599" spc="59">
                <a:solidFill>
                  <a:srgbClr val="000000"/>
                </a:solidFill>
                <a:latin typeface="Arial"/>
                <a:ea typeface="Arial"/>
                <a:cs typeface="Arial"/>
                <a:sym typeface="Arial"/>
              </a:rPr>
              <a:t>iz</a:t>
            </a:r>
            <a:r>
              <a:rPr lang="en-US" sz="1599" spc="59">
                <a:solidFill>
                  <a:srgbClr val="000000"/>
                </a:solidFill>
                <a:latin typeface="Arial"/>
                <a:ea typeface="Arial"/>
                <a:cs typeface="Arial"/>
                <a:sym typeface="Arial"/>
              </a:rPr>
              <a:t>ing how d</a:t>
            </a:r>
            <a:r>
              <a:rPr lang="en-US" sz="1599" spc="59">
                <a:solidFill>
                  <a:srgbClr val="000000"/>
                </a:solidFill>
                <a:latin typeface="Arial"/>
                <a:ea typeface="Arial"/>
                <a:cs typeface="Arial"/>
                <a:sym typeface="Arial"/>
              </a:rPr>
              <a:t>epth and volume are represented </a:t>
            </a:r>
            <a:r>
              <a:rPr lang="en-US" sz="1599" spc="59">
                <a:solidFill>
                  <a:srgbClr val="000000"/>
                </a:solidFill>
                <a:latin typeface="Arial"/>
                <a:ea typeface="Arial"/>
                <a:cs typeface="Arial"/>
                <a:sym typeface="Arial"/>
              </a:rPr>
              <a:t>in the mesh.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27151" y="399235"/>
            <a:ext cx="8259448" cy="8659972"/>
          </a:xfrm>
          <a:custGeom>
            <a:avLst/>
            <a:gdLst/>
            <a:ahLst/>
            <a:cxnLst/>
            <a:rect r="r" b="b" t="t" l="l"/>
            <a:pathLst>
              <a:path h="8659972" w="8259448">
                <a:moveTo>
                  <a:pt x="0" y="0"/>
                </a:moveTo>
                <a:lnTo>
                  <a:pt x="8259447" y="0"/>
                </a:lnTo>
                <a:lnTo>
                  <a:pt x="8259447" y="8659972"/>
                </a:lnTo>
                <a:lnTo>
                  <a:pt x="0" y="8659972"/>
                </a:lnTo>
                <a:lnTo>
                  <a:pt x="0" y="0"/>
                </a:lnTo>
                <a:close/>
              </a:path>
            </a:pathLst>
          </a:custGeom>
          <a:blipFill>
            <a:blip r:embed="rId2"/>
            <a:stretch>
              <a:fillRect l="0" t="0" r="0" b="0"/>
            </a:stretch>
          </a:blipFill>
        </p:spPr>
      </p:sp>
      <p:sp>
        <p:nvSpPr>
          <p:cNvPr name="TextBox 3" id="3"/>
          <p:cNvSpPr txBox="true"/>
          <p:nvPr/>
        </p:nvSpPr>
        <p:spPr>
          <a:xfrm rot="0">
            <a:off x="5227151" y="9119566"/>
            <a:ext cx="8259448" cy="1041127"/>
          </a:xfrm>
          <a:prstGeom prst="rect">
            <a:avLst/>
          </a:prstGeom>
        </p:spPr>
        <p:txBody>
          <a:bodyPr anchor="t" rtlCol="false" tIns="0" lIns="0" bIns="0" rIns="0">
            <a:spAutoFit/>
          </a:bodyPr>
          <a:lstStyle/>
          <a:p>
            <a:pPr algn="just">
              <a:lnSpc>
                <a:spcPts val="2047"/>
              </a:lnSpc>
            </a:pPr>
            <a:r>
              <a:rPr lang="en-US" sz="1599" spc="59">
                <a:solidFill>
                  <a:srgbClr val="000000"/>
                </a:solidFill>
                <a:latin typeface="Arial"/>
                <a:ea typeface="Arial"/>
                <a:cs typeface="Arial"/>
                <a:sym typeface="Arial"/>
              </a:rPr>
              <a:t>Custo</a:t>
            </a:r>
            <a:r>
              <a:rPr lang="en-US" sz="1599" spc="59">
                <a:solidFill>
                  <a:srgbClr val="000000"/>
                </a:solidFill>
                <a:latin typeface="Arial"/>
                <a:ea typeface="Arial"/>
                <a:cs typeface="Arial"/>
                <a:sym typeface="Arial"/>
              </a:rPr>
              <a:t>m</a:t>
            </a:r>
            <a:r>
              <a:rPr lang="en-US" sz="1599" spc="59">
                <a:solidFill>
                  <a:srgbClr val="000000"/>
                </a:solidFill>
                <a:latin typeface="Arial"/>
                <a:ea typeface="Arial"/>
                <a:cs typeface="Arial"/>
                <a:sym typeface="Arial"/>
              </a:rPr>
              <a:t> color:</a:t>
            </a:r>
          </a:p>
          <a:p>
            <a:pPr algn="just">
              <a:lnSpc>
                <a:spcPts val="2047"/>
              </a:lnSpc>
            </a:pPr>
            <a:r>
              <a:rPr lang="en-US" sz="1599" spc="59">
                <a:solidFill>
                  <a:srgbClr val="000000"/>
                </a:solidFill>
                <a:latin typeface="Arial"/>
                <a:ea typeface="Arial"/>
                <a:cs typeface="Arial"/>
                <a:sym typeface="Arial"/>
              </a:rPr>
              <a:t>A custom color wa</a:t>
            </a:r>
            <a:r>
              <a:rPr lang="en-US" sz="1599" spc="59">
                <a:solidFill>
                  <a:srgbClr val="000000"/>
                </a:solidFill>
                <a:latin typeface="Arial"/>
                <a:ea typeface="Arial"/>
                <a:cs typeface="Arial"/>
                <a:sym typeface="Arial"/>
              </a:rPr>
              <a:t>s applied to the mesh</a:t>
            </a:r>
            <a:r>
              <a:rPr lang="en-US" sz="1599" spc="59">
                <a:solidFill>
                  <a:srgbClr val="000000"/>
                </a:solidFill>
                <a:latin typeface="Arial"/>
                <a:ea typeface="Arial"/>
                <a:cs typeface="Arial"/>
                <a:sym typeface="Arial"/>
              </a:rPr>
              <a:t> to improve visual contrast an</a:t>
            </a:r>
            <a:r>
              <a:rPr lang="en-US" sz="1599" spc="59">
                <a:solidFill>
                  <a:srgbClr val="000000"/>
                </a:solidFill>
                <a:latin typeface="Arial"/>
                <a:ea typeface="Arial"/>
                <a:cs typeface="Arial"/>
                <a:sym typeface="Arial"/>
              </a:rPr>
              <a:t>d </a:t>
            </a:r>
            <a:r>
              <a:rPr lang="en-US" sz="1599" spc="59">
                <a:solidFill>
                  <a:srgbClr val="000000"/>
                </a:solidFill>
                <a:latin typeface="Arial"/>
                <a:ea typeface="Arial"/>
                <a:cs typeface="Arial"/>
                <a:sym typeface="Arial"/>
              </a:rPr>
              <a:t>make</a:t>
            </a:r>
            <a:r>
              <a:rPr lang="en-US" sz="1599" spc="59">
                <a:solidFill>
                  <a:srgbClr val="000000"/>
                </a:solidFill>
                <a:latin typeface="Arial"/>
                <a:ea typeface="Arial"/>
                <a:cs typeface="Arial"/>
                <a:sym typeface="Arial"/>
              </a:rPr>
              <a:t> </a:t>
            </a:r>
            <a:r>
              <a:rPr lang="en-US" sz="1599" spc="59">
                <a:solidFill>
                  <a:srgbClr val="000000"/>
                </a:solidFill>
                <a:latin typeface="Arial"/>
                <a:ea typeface="Arial"/>
                <a:cs typeface="Arial"/>
                <a:sym typeface="Arial"/>
              </a:rPr>
              <a:t>the geom</a:t>
            </a:r>
            <a:r>
              <a:rPr lang="en-US" sz="1599" spc="59">
                <a:solidFill>
                  <a:srgbClr val="000000"/>
                </a:solidFill>
                <a:latin typeface="Arial"/>
                <a:ea typeface="Arial"/>
                <a:cs typeface="Arial"/>
                <a:sym typeface="Arial"/>
              </a:rPr>
              <a:t>etry easier to distinguish dur</a:t>
            </a:r>
            <a:r>
              <a:rPr lang="en-US" sz="1599" spc="59">
                <a:solidFill>
                  <a:srgbClr val="000000"/>
                </a:solidFill>
                <a:latin typeface="Arial"/>
                <a:ea typeface="Arial"/>
                <a:cs typeface="Arial"/>
                <a:sym typeface="Arial"/>
              </a:rPr>
              <a:t>ing visualization.</a:t>
            </a:r>
          </a:p>
          <a:p>
            <a:pPr algn="just">
              <a:lnSpc>
                <a:spcPts val="2047"/>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DAG-7j1Qx4o</dc:identifier>
  <dcterms:modified xsi:type="dcterms:W3CDTF">2011-08-01T06:04:30Z</dcterms:modified>
  <cp:revision>1</cp:revision>
  <dc:title>Assignment_0_Vikrant</dc:title>
</cp:coreProperties>
</file>