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2"/>
    <p:restoredTop sz="94752"/>
  </p:normalViewPr>
  <p:slideViewPr>
    <p:cSldViewPr snapToGrid="0">
      <p:cViewPr varScale="1">
        <p:scale>
          <a:sx n="141" d="100"/>
          <a:sy n="141" d="100"/>
        </p:scale>
        <p:origin x="22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4E840-58D2-144F-AC19-528379BC99AD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CCF35-73E5-7847-A686-2D9B97759E1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78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DCCF35-73E5-7847-A686-2D9B97759E1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777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2FED9-005F-A3EB-4AD5-B972820C1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7F4FC3-5DFB-0EC4-28FE-2CF8C541A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362F67-B198-4FD4-A96B-D4C112AF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E7147-5D5A-AB05-4E88-35F93787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F579D-3A9E-34E0-1FAA-E020D1D9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376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6F8D9-1FF3-4A21-CA8A-31A469F5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5BB66-FF6C-E24B-2BB4-4DDDE386B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9D1C8-2D10-375F-B168-EF6B7BDA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54E32-5BCC-BC9E-8A68-BC6FDC64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751FB-4D6E-CE68-077E-E58D9A74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003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BA0AA-28CB-30E2-8006-897BE2F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C2686-850D-0D8A-FE63-2843D57BE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A580C-9713-B27D-A85F-84F20F57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CAF47-7623-A685-5391-A0C7387A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2D72F-A643-0A75-1FCB-317F9DF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272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91B11-05B7-081B-8B4A-8242B9C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2752-DE42-27D7-A89C-84272EB3E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43206-4BCC-8272-6EB1-9F5402642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5DA28C-F57D-30A2-7C12-E710039F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3755C7-173C-B68A-037C-00A17723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07E2C5-F1B9-5D3A-8D8D-21B1B478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76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9868-CAF9-3759-F8D4-C645F682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17B54-A45A-08A9-BD95-EA6BE65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8310D4-72DA-CFFA-3738-FF15C24A6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0E8D5E-152A-1947-8602-E731B409A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9619-2351-AC7D-DB37-5B5A0DDDC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53EB40-C392-24D7-7779-A9D06E65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622B2D-65B1-147F-16B6-A15ACAD7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7A443A-0FDB-CECE-3C07-BF68FFB0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83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F4DC4-B5CF-3A0B-3B7F-FE258860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D92621-2ADA-2682-39F3-200017C6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3FC053-B01D-2B5E-C734-EFBAFA9E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DE7CDE-8697-DD4E-B189-50F784AE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271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E440EA-C0F9-A61D-FCAE-8B369DCF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9E3E94-AFCC-2887-73F8-BFF9B84B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C743C-6346-E646-DCBB-D981223E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413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BB0DC-0FBF-88B0-D60E-9E1CB056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6E4A6-FC79-76FE-9E24-EB57655B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7D89C9-1562-1950-B5DD-9AAAFBDF1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921412-F79D-4D7E-7F93-38649D7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CAADEC-BC5B-2041-800C-5495A293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C61F1-F77C-D9A4-CAC6-6A403C66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900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E8CE7-405B-C99D-8CEC-2AE86E13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C0DC79-8E29-CBFA-802F-42889D545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E69DB6-9842-2D1B-8632-351922B3A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4DB2E-7DF9-DAD4-1FDC-A62FEFB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5B40D-11FE-3DC5-74B1-BB13287A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A1F0D-060E-9D3B-9577-9CAA0BC8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392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C8A1D-CE67-B10E-67A5-1D09174A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14C1E3-146E-5936-C9DF-C3DC8B856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3CF0A-404B-6CF9-D007-B435877C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074D89-E09E-8479-9B53-20D770EA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AA42FF-EF8B-6D3E-812E-1A944663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435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0150D1-45D1-95F4-E0A2-D4793CB4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2EE169-8010-4D37-7C62-74994F3C3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0427A-93FF-1757-EB2A-8CB1028A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E6870-0179-18FB-73E6-67B2B3A3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0E64E-49F8-697F-FB91-B592ED5F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441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2F98A6-0B2B-0193-3B1C-FF7664F4A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D8E931-C5C7-53EE-2487-824A51597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0523E-1A4F-5D8C-FFEA-F5F8856EA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6FE6F-B3D0-174C-BBC5-5363909407FA}" type="datetimeFigureOut">
              <a:rPr kumimoji="1" lang="zh-CN" altLang="en-US" smtClean="0"/>
              <a:t>2026/1/20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2F523C-D599-973E-AD09-45F97A86C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33DAE-E1FC-3719-8C29-77793FEA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86201-3FC5-594B-9583-19BAC864C9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76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D696B53-A36F-7AC9-86B4-384C5FB6CB69}"/>
              </a:ext>
            </a:extLst>
          </p:cNvPr>
          <p:cNvSpPr txBox="1"/>
          <p:nvPr/>
        </p:nvSpPr>
        <p:spPr>
          <a:xfrm>
            <a:off x="351064" y="6068785"/>
            <a:ext cx="11489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Burley, Brent, and Walt Disney Animation Studios. "Physically-based shading at </a:t>
            </a:r>
            <a:r>
              <a:rPr lang="en" altLang="zh-CN" dirty="0" err="1"/>
              <a:t>disney</a:t>
            </a:r>
            <a:r>
              <a:rPr lang="en" altLang="zh-CN" dirty="0"/>
              <a:t>." </a:t>
            </a:r>
            <a:r>
              <a:rPr lang="en" altLang="zh-CN" dirty="0" err="1"/>
              <a:t>Acm</a:t>
            </a:r>
            <a:r>
              <a:rPr lang="en" altLang="zh-CN" dirty="0"/>
              <a:t> </a:t>
            </a:r>
            <a:r>
              <a:rPr lang="en" altLang="zh-CN" dirty="0" err="1"/>
              <a:t>siggraph</a:t>
            </a:r>
            <a:r>
              <a:rPr lang="en" altLang="zh-CN" dirty="0"/>
              <a:t>. Vol. 2012. No. 2012. vol. 2012, 2012.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C60336-4579-AF99-FF8B-6B882E2F5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300"/>
            <a:ext cx="12192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1E2B58-F9E4-C6C6-5EE9-E9B7ADAB1C55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Physically-Based Shading at Disney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7CFE37-AA70-62F6-DC9C-43902CCD0D9A}"/>
              </a:ext>
            </a:extLst>
          </p:cNvPr>
          <p:cNvSpPr txBox="1"/>
          <p:nvPr/>
        </p:nvSpPr>
        <p:spPr>
          <a:xfrm>
            <a:off x="163286" y="556357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Figure 21: Production still from Wreck-It Ralph.</a:t>
            </a:r>
          </a:p>
        </p:txBody>
      </p:sp>
    </p:spTree>
    <p:extLst>
      <p:ext uri="{BB962C8B-B14F-4D97-AF65-F5344CB8AC3E}">
        <p14:creationId xmlns:p14="http://schemas.microsoft.com/office/powerpoint/2010/main" val="344278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E1C5-88C5-0B27-707A-44536388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C10FAC8-D897-69D2-A847-B57E84520091}"/>
              </a:ext>
            </a:extLst>
          </p:cNvPr>
          <p:cNvSpPr txBox="1"/>
          <p:nvPr/>
        </p:nvSpPr>
        <p:spPr>
          <a:xfrm>
            <a:off x="351064" y="6068785"/>
            <a:ext cx="11489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/>
              <a:t>Burley, Brent, and Walt Disney Animation Studios. "Physically-based shading at </a:t>
            </a:r>
            <a:r>
              <a:rPr lang="en" altLang="zh-CN" dirty="0" err="1"/>
              <a:t>disney</a:t>
            </a:r>
            <a:r>
              <a:rPr lang="en" altLang="zh-CN" dirty="0"/>
              <a:t>." </a:t>
            </a:r>
            <a:r>
              <a:rPr lang="en" altLang="zh-CN" dirty="0" err="1"/>
              <a:t>Acm</a:t>
            </a:r>
            <a:r>
              <a:rPr lang="en" altLang="zh-CN" dirty="0"/>
              <a:t> </a:t>
            </a:r>
            <a:r>
              <a:rPr lang="en" altLang="zh-CN" dirty="0" err="1"/>
              <a:t>siggraph</a:t>
            </a:r>
            <a:r>
              <a:rPr lang="en" altLang="zh-CN" dirty="0"/>
              <a:t>. Vol. 2012. No. 2012. vol. 2012, 2012.</a:t>
            </a: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494EB6-D7B7-1A09-4A37-D9E33323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6300"/>
            <a:ext cx="121920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D91C2A6-F0B3-F7BC-D53E-D7A001FFFAC2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Physically-Based Shading at Disney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122E1A-68EE-CE6D-4C20-427F16C3AA7B}"/>
              </a:ext>
            </a:extLst>
          </p:cNvPr>
          <p:cNvSpPr/>
          <p:nvPr/>
        </p:nvSpPr>
        <p:spPr>
          <a:xfrm>
            <a:off x="0" y="876300"/>
            <a:ext cx="12192000" cy="5105400"/>
          </a:xfrm>
          <a:prstGeom prst="rect">
            <a:avLst/>
          </a:prstGeom>
          <a:solidFill>
            <a:schemeClr val="bg1">
              <a:alpha val="8515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43F4E5-28A5-9C8E-5FB4-6122CDCA5EB7}"/>
              </a:ext>
            </a:extLst>
          </p:cNvPr>
          <p:cNvSpPr txBox="1"/>
          <p:nvPr/>
        </p:nvSpPr>
        <p:spPr>
          <a:xfrm>
            <a:off x="404886" y="1380330"/>
            <a:ext cx="11382227" cy="409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altLang="zh-CN" dirty="0"/>
              <a:t>I selected an image from Disney's 2012 SIGGRAPH paper, </a:t>
            </a:r>
            <a:r>
              <a:rPr lang="en" altLang="zh-CN" i="1" dirty="0"/>
              <a:t>Physically-Based Shading at Disney</a:t>
            </a:r>
            <a:r>
              <a:rPr lang="en" altLang="zh-CN" dirty="0"/>
              <a:t>. The specific image is a production still from the movie </a:t>
            </a:r>
            <a:r>
              <a:rPr lang="en" altLang="zh-CN" i="1" dirty="0"/>
              <a:t>Wreck-It Ralph</a:t>
            </a:r>
            <a:r>
              <a:rPr lang="en" altLang="zh-CN" dirty="0"/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altLang="zh-CN" dirty="0"/>
              <a:t>Technically, </a:t>
            </a:r>
            <a:r>
              <a:rPr lang="en" altLang="zh-CN" b="1" dirty="0"/>
              <a:t>shading </a:t>
            </a:r>
            <a:r>
              <a:rPr lang="en" altLang="zh-CN" dirty="0"/>
              <a:t>acts as a solver for the BRDF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" altLang="zh-CN" b="1" dirty="0"/>
              <a:t>BRDF </a:t>
            </a:r>
            <a:r>
              <a:rPr lang="en" altLang="zh-CN" dirty="0"/>
              <a:t>stands for </a:t>
            </a:r>
            <a:r>
              <a:rPr lang="en" altLang="zh-CN" b="1" dirty="0"/>
              <a:t>Bidirectional Reflectance Distribution Function</a:t>
            </a:r>
            <a:r>
              <a:rPr lang="en" altLang="zh-CN" dirty="0"/>
              <a:t>. It describes the rules </a:t>
            </a:r>
            <a:r>
              <a:rPr lang="en-US" altLang="zh-CN" dirty="0"/>
              <a:t>about</a:t>
            </a:r>
            <a:r>
              <a:rPr lang="en" altLang="zh-CN" dirty="0"/>
              <a:t> the interaction between light and material surfaces. The term 'bidirectional' indicates that light propagation is determined by both the light direction and the viewing direction.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" altLang="zh-CN" dirty="0"/>
              <a:t>his work Disney introduced </a:t>
            </a:r>
            <a:r>
              <a:rPr lang="en" altLang="zh-CN" b="1" dirty="0"/>
              <a:t>11 famous intuitive parameters</a:t>
            </a:r>
            <a:r>
              <a:rPr lang="en" altLang="zh-CN" dirty="0"/>
              <a:t>, effectively translating complex physical parameters into artist-friendly terms such as ‘Metallic’ and ‘Roughness.’ This approach unified the representation of complex materials—like car paint (via the </a:t>
            </a:r>
            <a:r>
              <a:rPr lang="en" altLang="zh-CN" i="1" dirty="0"/>
              <a:t>Clearcoat</a:t>
            </a:r>
            <a:r>
              <a:rPr lang="en" altLang="zh-CN" dirty="0"/>
              <a:t> parameter) and cloth (via the </a:t>
            </a:r>
            <a:r>
              <a:rPr lang="en" altLang="zh-CN" i="1" dirty="0"/>
              <a:t>Sheen</a:t>
            </a:r>
            <a:r>
              <a:rPr lang="en" altLang="zh-CN" dirty="0"/>
              <a:t> parameter)—and established a foundational industrial standard for modern real-time game engines</a:t>
            </a:r>
            <a:r>
              <a:rPr lang="en-US" altLang="zh-CN" dirty="0"/>
              <a:t>.</a:t>
            </a:r>
            <a:endParaRPr lang="en" altLang="zh-CN" dirty="0"/>
          </a:p>
        </p:txBody>
      </p:sp>
    </p:spTree>
    <p:extLst>
      <p:ext uri="{BB962C8B-B14F-4D97-AF65-F5344CB8AC3E}">
        <p14:creationId xmlns:p14="http://schemas.microsoft.com/office/powerpoint/2010/main" val="346883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6FA35E1-A500-996D-9406-14DB1A1A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984" y="423851"/>
            <a:ext cx="6760029" cy="52177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F56DD7-C2B3-02EF-10A4-4B633EAF1BD9}"/>
              </a:ext>
            </a:extLst>
          </p:cNvPr>
          <p:cNvSpPr txBox="1"/>
          <p:nvPr/>
        </p:nvSpPr>
        <p:spPr>
          <a:xfrm>
            <a:off x="1074056" y="5787818"/>
            <a:ext cx="10043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Figure 16: Examples of the eﬀect of our BRDF parameters. Each parameter is varied across the row from zero to one with the other parameters held constant.</a:t>
            </a:r>
          </a:p>
        </p:txBody>
      </p:sp>
    </p:spTree>
    <p:extLst>
      <p:ext uri="{BB962C8B-B14F-4D97-AF65-F5344CB8AC3E}">
        <p14:creationId xmlns:p14="http://schemas.microsoft.com/office/powerpoint/2010/main" val="182559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EFD3318-FAE9-3E7F-FEAA-522041F386FE}"/>
              </a:ext>
            </a:extLst>
          </p:cNvPr>
          <p:cNvSpPr txBox="1"/>
          <p:nvPr/>
        </p:nvSpPr>
        <p:spPr>
          <a:xfrm>
            <a:off x="163286" y="232593"/>
            <a:ext cx="4528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" altLang="zh-CN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Charizard</a:t>
            </a:r>
            <a:r>
              <a:rPr lang="zh-CN" altLang="en-US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en-US" altLang="zh-CN" sz="2000" b="1" dirty="0" err="1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Pokemon</a:t>
            </a:r>
            <a:r>
              <a:rPr lang="en-US" altLang="zh-CN" sz="2000" b="1" dirty="0">
                <a:solidFill>
                  <a:srgbClr val="1D1D1D"/>
                </a:solidFill>
                <a:effectLst/>
                <a:latin typeface="Helvetica Neue" panose="02000503000000020004" pitchFamily="2" charset="0"/>
              </a:rPr>
              <a:t>)</a:t>
            </a:r>
            <a:endParaRPr lang="en" altLang="zh-CN" sz="2000" b="1" dirty="0">
              <a:solidFill>
                <a:srgbClr val="1D1D1D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6B7D77EF-FB6D-5174-3C03-55351AEE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722" y="3631436"/>
            <a:ext cx="4033304" cy="2880000"/>
          </a:xfrm>
          <a:prstGeom prst="rect">
            <a:avLst/>
          </a:prstGeom>
        </p:spPr>
      </p:pic>
      <p:pic>
        <p:nvPicPr>
          <p:cNvPr id="11" name="图片 10" descr="电脑萤幕的截图&#10;&#10;AI 生成的内容可能不正确。">
            <a:extLst>
              <a:ext uri="{FF2B5EF4-FFF2-40B4-BE49-F238E27FC236}">
                <a16:creationId xmlns:a16="http://schemas.microsoft.com/office/drawing/2014/main" id="{0B4EC5AF-D773-B149-B716-22DC5F3B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23" y="751436"/>
            <a:ext cx="4033303" cy="2880000"/>
          </a:xfrm>
          <a:prstGeom prst="rect">
            <a:avLst/>
          </a:prstGeom>
        </p:spPr>
      </p:pic>
      <p:pic>
        <p:nvPicPr>
          <p:cNvPr id="13" name="图片 12" descr="电脑萤幕的截图&#10;&#10;AI 生成的内容可能不正确。">
            <a:extLst>
              <a:ext uri="{FF2B5EF4-FFF2-40B4-BE49-F238E27FC236}">
                <a16:creationId xmlns:a16="http://schemas.microsoft.com/office/drawing/2014/main" id="{FBC7082B-79FC-AB31-8E10-8F0841D92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6" y="932814"/>
            <a:ext cx="7379436" cy="526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1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270</Words>
  <Application>Microsoft Macintosh PowerPoint</Application>
  <PresentationFormat>宽屏</PresentationFormat>
  <Paragraphs>11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Xuechao Zhang (Student)</dc:creator>
  <cp:lastModifiedBy>Xuechao Zhang (Student)</cp:lastModifiedBy>
  <cp:revision>2</cp:revision>
  <dcterms:created xsi:type="dcterms:W3CDTF">2026-01-20T16:34:26Z</dcterms:created>
  <dcterms:modified xsi:type="dcterms:W3CDTF">2026-01-20T17:01:08Z</dcterms:modified>
</cp:coreProperties>
</file>