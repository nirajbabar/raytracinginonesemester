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xml"/>
  <Override ContentType="application/vnd.openxmlformats-officedocument.presentationml.notesSlide+xml" PartName="/ppt/notesSlides/notesSlide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b91a6825d4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b91a6825d4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 Id="rId3" Type="http://schemas.openxmlformats.org/officeDocument/2006/relationships/image" Target="../media/image5.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Representative image</a:t>
            </a:r>
            <a:endParaRPr/>
          </a:p>
        </p:txBody>
      </p:sp>
      <p:sp>
        <p:nvSpPr>
          <p:cNvPr id="55" name="Google Shape;55;p13"/>
          <p:cNvSpPr txBox="1"/>
          <p:nvPr>
            <p:ph idx="1" type="body"/>
          </p:nvPr>
        </p:nvSpPr>
        <p:spPr>
          <a:xfrm>
            <a:off x="311700" y="969000"/>
            <a:ext cx="3999900" cy="4174500"/>
          </a:xfrm>
          <a:prstGeom prst="rect">
            <a:avLst/>
          </a:prstGeom>
        </p:spPr>
        <p:txBody>
          <a:bodyPr anchorCtr="0" anchor="t" bIns="91425" lIns="91425" spcFirstLastPara="1" rIns="91425" wrap="square" tIns="91425">
            <a:noAutofit/>
          </a:bodyPr>
          <a:lstStyle/>
          <a:p>
            <a:pPr indent="0" lvl="0" marL="0" rtl="0" algn="l">
              <a:lnSpc>
                <a:spcPct val="95000"/>
              </a:lnSpc>
              <a:spcBef>
                <a:spcPts val="1200"/>
              </a:spcBef>
              <a:spcAft>
                <a:spcPts val="0"/>
              </a:spcAft>
              <a:buClr>
                <a:schemeClr val="dk1"/>
              </a:buClr>
              <a:buSzPts val="935"/>
              <a:buFont typeface="Arial"/>
              <a:buNone/>
            </a:pPr>
            <a:r>
              <a:rPr b="1" lang="en" sz="1135">
                <a:solidFill>
                  <a:schemeClr val="dk1"/>
                </a:solidFill>
              </a:rPr>
              <a:t>"The Whitted Spheres"</a:t>
            </a:r>
            <a:r>
              <a:rPr lang="en" sz="1135">
                <a:solidFill>
                  <a:schemeClr val="dk1"/>
                </a:solidFill>
              </a:rPr>
              <a:t> (often titled </a:t>
            </a:r>
            <a:r>
              <a:rPr i="1" lang="en" sz="1135">
                <a:solidFill>
                  <a:schemeClr val="dk1"/>
                </a:solidFill>
              </a:rPr>
              <a:t>Inter-reflecting Spheres</a:t>
            </a:r>
            <a:r>
              <a:rPr lang="en" sz="1135">
                <a:solidFill>
                  <a:schemeClr val="dk1"/>
                </a:solidFill>
              </a:rPr>
              <a:t>), created by </a:t>
            </a:r>
            <a:r>
              <a:rPr b="1" lang="en" sz="1135">
                <a:solidFill>
                  <a:schemeClr val="dk1"/>
                </a:solidFill>
              </a:rPr>
              <a:t>Turner Whitted</a:t>
            </a:r>
            <a:r>
              <a:rPr lang="en" sz="1135">
                <a:solidFill>
                  <a:schemeClr val="dk1"/>
                </a:solidFill>
              </a:rPr>
              <a:t> for his seminal 1980 paper, </a:t>
            </a:r>
            <a:r>
              <a:rPr i="1" lang="en" sz="1135">
                <a:solidFill>
                  <a:schemeClr val="dk1"/>
                </a:solidFill>
              </a:rPr>
              <a:t>"An Improved Illumination Model for Shaded Display."</a:t>
            </a:r>
            <a:endParaRPr i="1" sz="1135">
              <a:solidFill>
                <a:schemeClr val="dk1"/>
              </a:solidFill>
            </a:endParaRPr>
          </a:p>
          <a:p>
            <a:pPr indent="0" lvl="0" marL="0" rtl="0" algn="l">
              <a:lnSpc>
                <a:spcPct val="95000"/>
              </a:lnSpc>
              <a:spcBef>
                <a:spcPts val="1200"/>
              </a:spcBef>
              <a:spcAft>
                <a:spcPts val="0"/>
              </a:spcAft>
              <a:buClr>
                <a:schemeClr val="dk1"/>
              </a:buClr>
              <a:buSzPts val="935"/>
              <a:buFont typeface="Arial"/>
              <a:buNone/>
            </a:pPr>
            <a:r>
              <a:rPr lang="en" sz="1135">
                <a:solidFill>
                  <a:schemeClr val="dk1"/>
                </a:solidFill>
              </a:rPr>
              <a:t>This image is widely considered a milestone in computer graphics because it was the first to demonstrate the power of </a:t>
            </a:r>
            <a:r>
              <a:rPr b="1" lang="en" sz="1135">
                <a:solidFill>
                  <a:schemeClr val="dk1"/>
                </a:solidFill>
              </a:rPr>
              <a:t>recursive ray tracing</a:t>
            </a:r>
            <a:r>
              <a:rPr lang="en" sz="1135">
                <a:solidFill>
                  <a:schemeClr val="dk1"/>
                </a:solidFill>
              </a:rPr>
              <a:t>. The image depicts two spheres floating above a red and yellow checkerboard grid: one sphere is a perfect mirror, reflecting the other sphere and the floor, while the second sphere is transparent (glass), distorting the background through refraction. Before this image, rendering techniques like Phong shading could only calculate local illumination—how light hits a single surface directly. Whitted’s groundbreaking algorithm traced light rays backwards from the viewer's eye into the scene, allowing them to bounce off surfaces to simulate global effects like true reflection, refraction (transparency), and accurate shadows. This technique shifted the paradigm of rendering from simply coloring polygons to simulating the physics of light transport, laying the foundation for the photorealistic graphics seen in modern movies and video games today.</a:t>
            </a:r>
            <a:endParaRPr sz="1135">
              <a:solidFill>
                <a:schemeClr val="dk1"/>
              </a:solidFill>
            </a:endParaRPr>
          </a:p>
          <a:p>
            <a:pPr indent="0" lvl="0" marL="0" rtl="0" algn="l">
              <a:lnSpc>
                <a:spcPct val="95000"/>
              </a:lnSpc>
              <a:spcBef>
                <a:spcPts val="1200"/>
              </a:spcBef>
              <a:spcAft>
                <a:spcPts val="1200"/>
              </a:spcAft>
              <a:buSzPts val="935"/>
              <a:buNone/>
            </a:pPr>
            <a:r>
              <a:t/>
            </a:r>
            <a:endParaRPr sz="1190"/>
          </a:p>
        </p:txBody>
      </p:sp>
      <p:pic>
        <p:nvPicPr>
          <p:cNvPr id="56" name="Google Shape;56;p13" title="1981-Turner_Whitted-Untitles-Ray-Traced-Spheres1979.jpg"/>
          <p:cNvPicPr preferRelativeResize="0"/>
          <p:nvPr/>
        </p:nvPicPr>
        <p:blipFill>
          <a:blip r:embed="rId3">
            <a:alphaModFix/>
          </a:blip>
          <a:stretch>
            <a:fillRect/>
          </a:stretch>
        </p:blipFill>
        <p:spPr>
          <a:xfrm>
            <a:off x="4498650" y="1268724"/>
            <a:ext cx="4333648" cy="3183899"/>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pic>
        <p:nvPicPr>
          <p:cNvPr id="61" name="Google Shape;61;p14"/>
          <p:cNvPicPr preferRelativeResize="0"/>
          <p:nvPr/>
        </p:nvPicPr>
        <p:blipFill>
          <a:blip r:embed="rId3">
            <a:alphaModFix/>
          </a:blip>
          <a:stretch>
            <a:fillRect/>
          </a:stretch>
        </p:blipFill>
        <p:spPr>
          <a:xfrm>
            <a:off x="1034925" y="202450"/>
            <a:ext cx="3460874" cy="2152901"/>
          </a:xfrm>
          <a:prstGeom prst="rect">
            <a:avLst/>
          </a:prstGeom>
          <a:noFill/>
          <a:ln>
            <a:noFill/>
          </a:ln>
        </p:spPr>
      </p:pic>
      <p:pic>
        <p:nvPicPr>
          <p:cNvPr id="62" name="Google Shape;62;p14"/>
          <p:cNvPicPr preferRelativeResize="0"/>
          <p:nvPr/>
        </p:nvPicPr>
        <p:blipFill>
          <a:blip r:embed="rId4">
            <a:alphaModFix/>
          </a:blip>
          <a:stretch>
            <a:fillRect/>
          </a:stretch>
        </p:blipFill>
        <p:spPr>
          <a:xfrm>
            <a:off x="4648200" y="202450"/>
            <a:ext cx="3460874" cy="2152913"/>
          </a:xfrm>
          <a:prstGeom prst="rect">
            <a:avLst/>
          </a:prstGeom>
          <a:noFill/>
          <a:ln>
            <a:noFill/>
          </a:ln>
        </p:spPr>
      </p:pic>
      <p:pic>
        <p:nvPicPr>
          <p:cNvPr id="63" name="Google Shape;63;p14"/>
          <p:cNvPicPr preferRelativeResize="0"/>
          <p:nvPr/>
        </p:nvPicPr>
        <p:blipFill>
          <a:blip r:embed="rId5">
            <a:alphaModFix/>
          </a:blip>
          <a:stretch>
            <a:fillRect/>
          </a:stretch>
        </p:blipFill>
        <p:spPr>
          <a:xfrm>
            <a:off x="1034925" y="2788150"/>
            <a:ext cx="3460874" cy="2152910"/>
          </a:xfrm>
          <a:prstGeom prst="rect">
            <a:avLst/>
          </a:prstGeom>
          <a:noFill/>
          <a:ln>
            <a:noFill/>
          </a:ln>
        </p:spPr>
      </p:pic>
      <p:pic>
        <p:nvPicPr>
          <p:cNvPr id="64" name="Google Shape;64;p14"/>
          <p:cNvPicPr preferRelativeResize="0"/>
          <p:nvPr/>
        </p:nvPicPr>
        <p:blipFill>
          <a:blip r:embed="rId6">
            <a:alphaModFix/>
          </a:blip>
          <a:stretch>
            <a:fillRect/>
          </a:stretch>
        </p:blipFill>
        <p:spPr>
          <a:xfrm>
            <a:off x="4648212" y="2788150"/>
            <a:ext cx="3460859" cy="2152901"/>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